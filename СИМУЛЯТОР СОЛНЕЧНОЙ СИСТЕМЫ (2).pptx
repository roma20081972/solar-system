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5" r:id="rId14"/>
    <p:sldId id="309" r:id="rId1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34" autoAdjust="0"/>
    <p:restoredTop sz="95388" autoAdjust="0"/>
  </p:normalViewPr>
  <p:slideViewPr>
    <p:cSldViewPr snapToGrid="0">
      <p:cViewPr varScale="1">
        <p:scale>
          <a:sx n="110" d="100"/>
          <a:sy n="110" d="100"/>
        </p:scale>
        <p:origin x="366" y="108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84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8542D7CC-E8A3-429C-9F30-B39663AB044E}" type="datetime1">
              <a:rPr lang="ru-RU" smtClean="0"/>
              <a:t>04.03.2026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BF9A36D-7FAC-478F-9944-F324014F6FD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89D3EA30-A193-4EC3-B66C-38C9131FAA4E}" type="datetime1">
              <a:rPr lang="ru-RU" smtClean="0"/>
              <a:pPr/>
              <a:t>04.03.2026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4B9A9E5-4F7F-4A7D-9DE1-89923232926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1767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ru-RU" sz="2000"/>
            </a:lvl1pPr>
            <a:lvl2pPr>
              <a:lnSpc>
                <a:spcPct val="120000"/>
              </a:lnSpc>
              <a:defRPr lang="ru-RU" sz="1800"/>
            </a:lvl2pPr>
            <a:lvl3pPr>
              <a:lnSpc>
                <a:spcPct val="120000"/>
              </a:lnSpc>
              <a:defRPr lang="ru-RU" sz="1600"/>
            </a:lvl3pPr>
            <a:lvl4pPr>
              <a:lnSpc>
                <a:spcPct val="120000"/>
              </a:lnSpc>
              <a:defRPr lang="ru-RU" sz="1400"/>
            </a:lvl4pPr>
            <a:lvl5pPr>
              <a:lnSpc>
                <a:spcPct val="120000"/>
              </a:lnSpc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зо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ru-RU" sz="2000"/>
            </a:lvl1pPr>
            <a:lvl2pPr marL="457200" indent="0">
              <a:buNone/>
              <a:defRPr lang="ru-RU" sz="1800"/>
            </a:lvl2pPr>
            <a:lvl3pPr marL="914400" indent="0">
              <a:buNone/>
              <a:defRPr lang="ru-RU" sz="1600"/>
            </a:lvl3pPr>
            <a:lvl4pPr marL="1371600" indent="0">
              <a:buNone/>
              <a:defRPr lang="ru-RU" sz="1400"/>
            </a:lvl4pPr>
            <a:lvl5pPr marL="1828800" indent="0">
              <a:buNone/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 слева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9" name="Объект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ru-RU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1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1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1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1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1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 справ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Объект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0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0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0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0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Arial" panose="020B0604020202020204" pitchFamily="34" charset="0"/>
            </a:endParaRPr>
          </a:p>
        </p:txBody>
      </p:sp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0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0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0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0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Заполнитель таблицы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ru-RU" sz="2000"/>
            </a:lvl1pPr>
          </a:lstStyle>
          <a:p>
            <a:pPr rtl="0"/>
            <a:r>
              <a:rPr lang="ru-RU"/>
              <a:t>Щелкните значок, чтобы вставить таблицу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ru-RU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ru-RU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ru-RU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ru-RU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ru-RU" sz="16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ru-RU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ru-RU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ru-RU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ru-RU" sz="1400" b="1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Заполнитель таблицы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ru-RU" sz="24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ru-RU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29000"/>
            <a:ext cx="5674360" cy="320040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"СИМУЛЯТОР СОЛНЕЧНОЙ СИСТЕМЫ"</a:t>
            </a:r>
            <a:endParaRPr lang="ru-RU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-1188434"/>
            <a:ext cx="5181600" cy="2376868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ОРБИТАЛЬНАЯ МЕХАНИКА И РАЗМЕЩЕНИЕ ТЕЛ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493235"/>
            <a:ext cx="5900057" cy="5669566"/>
          </a:xfrm>
        </p:spPr>
        <p:txBody>
          <a:bodyPr rtlCol="0">
            <a:normAutofit fontScale="85000" lnSpcReduction="10000"/>
          </a:bodyPr>
          <a:lstStyle>
            <a:defPPr>
              <a:defRPr lang="ru-RU"/>
            </a:defPPr>
          </a:lstStyle>
          <a:p>
            <a:pPr algn="l"/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"Актуальность проекта обусловлена тем, что школьные учебники часто дают статичную картинку, а существующие онлайн-симуляторы либо требуют интернета, либо перегружены сложными функциями.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Цель моей работы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— создать простое, наглядное и автономное приложение, которое поможет любому пользователю наглядно изучить устройство Солнечной системы.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Задачи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, которые я перед собой ставил: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Смоделировать орбитальное движение планет с разной скоростью.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Визуализировать планеты с их отличительными признаками.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Сделать интерфейс интуитивно понятным и интерактивным."</a:t>
            </a:r>
          </a:p>
          <a:p>
            <a:br>
              <a:rPr lang="ru-RU" sz="2000" dirty="0"/>
            </a:b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rtl="0"/>
            <a:endParaRPr lang="ru-RU" sz="1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571864"/>
            <a:ext cx="6116319" cy="570411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l"/>
            <a:r>
              <a:rPr lang="ru-RU" sz="2000" b="0" i="0" dirty="0">
                <a:effectLst/>
                <a:latin typeface="quote-cjk-patch"/>
              </a:rPr>
              <a:t>"Сердце программы — это </a:t>
            </a:r>
            <a:r>
              <a:rPr lang="ru-RU" sz="2000" b="1" i="0" dirty="0">
                <a:effectLst/>
                <a:latin typeface="quote-cjk-patch"/>
              </a:rPr>
              <a:t>орбитальная механика</a:t>
            </a:r>
            <a:r>
              <a:rPr lang="ru-RU" sz="2000" b="0" i="0" dirty="0">
                <a:effectLst/>
                <a:latin typeface="quote-cjk-patch"/>
              </a:rPr>
              <a:t>.</a:t>
            </a:r>
            <a:br>
              <a:rPr lang="ru-RU" sz="2000" b="0" i="0" dirty="0">
                <a:effectLst/>
                <a:latin typeface="quote-cjk-patch"/>
              </a:rPr>
            </a:br>
            <a:r>
              <a:rPr lang="ru-RU" sz="2000" b="0" i="0" dirty="0">
                <a:effectLst/>
                <a:latin typeface="quote-cjk-patch"/>
              </a:rPr>
              <a:t>Положение каждой планеты рассчитывается по тригонометрической формуле. Внутренние планеты, такие как Меркурий и Венера, имеют маленький период обращения и движутся быстрее, а внешние — медленнее. Это полностью соответствует реальной картине мира.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64AD63C-A7CC-41EC-8256-C284862EEE3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22019" r="22019"/>
          <a:stretch/>
        </p:blipFill>
        <p:spPr>
          <a:xfrm>
            <a:off x="6085840" y="-10159"/>
            <a:ext cx="6106160" cy="6868160"/>
          </a:xfrm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8" y="168103"/>
            <a:ext cx="4805997" cy="2689629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Отрисовка орбит планет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17746" y="3605613"/>
            <a:ext cx="7511143" cy="3272839"/>
          </a:xfrm>
        </p:spPr>
        <p:txBody>
          <a:bodyPr rtlCol="0">
            <a:normAutofit fontScale="85000" lnSpcReduction="20000"/>
          </a:bodyPr>
          <a:lstStyle>
            <a:defPPr>
              <a:defRPr lang="ru-RU"/>
            </a:defPPr>
          </a:lstStyle>
          <a:p>
            <a:pPr algn="l"/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"Визуализации я уделил особое внимание. Простые круги — это скучно, поэтому я реализовал:</a:t>
            </a:r>
          </a:p>
          <a:p>
            <a:pPr algn="l">
              <a:buFont typeface="+mj-lt"/>
              <a:buAutoNum type="arabicPeriod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Эффект короны Солнца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— с помощью 15 вложенных слоев.</a:t>
            </a:r>
          </a:p>
          <a:p>
            <a:pPr algn="l">
              <a:buFont typeface="+mj-lt"/>
              <a:buAutoNum type="arabicPeriod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Градиент планет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— чтобы они выглядели объемными, а не плоскими.</a:t>
            </a:r>
          </a:p>
          <a:p>
            <a:pPr algn="l">
              <a:buFont typeface="+mj-lt"/>
              <a:buAutoNum type="arabicPeriod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Кольца Сатурна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— как визитная карточка планеты.</a:t>
            </a:r>
          </a:p>
          <a:p>
            <a:pPr algn="l">
              <a:buFont typeface="+mj-lt"/>
              <a:buAutoNum type="arabicPeriod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Мерцающие звезды на заднем плане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— они делают картинку живой.</a:t>
            </a:r>
          </a:p>
          <a:p>
            <a:pPr algn="l"/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Также система автоматически регулирует размер планет: даже когда мы смотрим на всю систему, ни одна планета не теряется из виду."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AB79A7-BBE9-4399-ACEA-5E327CE81BB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31174" r="31174"/>
          <a:stretch/>
        </p:blipFill>
        <p:spPr/>
      </p:pic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680"/>
            <a:ext cx="7273638" cy="415575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Визуализация орбит помогает понять структуру Солнечной системы, относительные расстояния между планетами и форму их траекторий. Пунктирные линии делают орбиты ненавязчивыми, но заметными.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654" y="-2650943"/>
            <a:ext cx="5772346" cy="3624984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Масштабирование и перемещение вида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1920" y="1802015"/>
            <a:ext cx="9013371" cy="5688016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algn="l"/>
            <a:r>
              <a:rPr lang="ru-RU" sz="2000" b="0" i="0" dirty="0">
                <a:effectLst/>
                <a:latin typeface="quote-cjk-patch"/>
              </a:rPr>
              <a:t>"Программа предоставляет пользователю полную свободу взаимодействия: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Вы можете </a:t>
            </a:r>
            <a:r>
              <a:rPr lang="ru-RU" sz="2000" b="1" i="0" dirty="0">
                <a:effectLst/>
                <a:latin typeface="quote-cjk-patch"/>
              </a:rPr>
              <a:t>масштабировать</a:t>
            </a:r>
            <a:r>
              <a:rPr lang="ru-RU" sz="2000" b="0" i="0" dirty="0">
                <a:effectLst/>
                <a:latin typeface="quote-cjk-patch"/>
              </a:rPr>
              <a:t> изображение колесиком мыши, чтобы рассмотреть орбиту Нептуна или приблизиться к Юпитеру.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Можно </a:t>
            </a:r>
            <a:r>
              <a:rPr lang="ru-RU" sz="2000" b="1" i="0" dirty="0">
                <a:effectLst/>
                <a:latin typeface="quote-cjk-patch"/>
              </a:rPr>
              <a:t>перемещаться</a:t>
            </a:r>
            <a:r>
              <a:rPr lang="ru-RU" sz="2000" b="0" i="0" dirty="0">
                <a:effectLst/>
                <a:latin typeface="quote-cjk-patch"/>
              </a:rPr>
              <a:t> по карте, зажав левую кнопку.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Если вы наведете мышкой на любую планету, справа мгновенно появится подробная информация: размер, масса, температура, состав атмосферы и даже интересные факты.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Для быстрого доступа реализованы </a:t>
            </a:r>
            <a:r>
              <a:rPr lang="ru-RU" sz="2000" b="1" i="0" dirty="0">
                <a:effectLst/>
                <a:latin typeface="quote-cjk-patch"/>
              </a:rPr>
              <a:t>горячие клавиши</a:t>
            </a:r>
            <a:r>
              <a:rPr lang="ru-RU" sz="2000" b="0" i="0" dirty="0">
                <a:effectLst/>
                <a:latin typeface="quote-cjk-patch"/>
              </a:rPr>
              <a:t>: Пробел (пауза), R (сброс вида), F (показать всё), O (орбиты), L (метки)."</a:t>
            </a: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Автоматическая подгонка масштаба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</a:t>
            </a:r>
            <a:r>
              <a:rPr lang="ru-RU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fit_all</a:t>
            </a: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автоматически рассчитывает оптимальный масштаб, чтобы вся Солнечная система поместилась на экране. Учитывается максимальное расстояние до самой удалённой планеты (Нептун).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FADA2D-CE7A-511E-45B9-EAF4FA520E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Удобная функция для быстрого возврата к обзору всей системы после приближения к отдельным планетам.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89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-261147"/>
            <a:ext cx="10439401" cy="161701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ВИЗУАЛИЗАЦИЯ НЕБЕСНЫХ ТЕЛ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74C67C-D286-74AE-086C-3E45FF9D95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174574"/>
            <a:ext cx="4224527" cy="5367893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Солнце </a:t>
            </a:r>
            <a:r>
              <a:rPr lang="ru-RU" sz="24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отрисовывается</a:t>
            </a:r>
            <a:r>
              <a:rPr lang="ru-RU" sz="24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как центральная звезда с градиентной заливкой и лучами. Используется несколько вложенных окружностей для создания эффекта короны и пульсации. Также добавляются 8 лучей для большей эффектности.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02310" y="1174574"/>
            <a:ext cx="6751489" cy="4590726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Солнце — главный объект системы, оно должно выделяться. Эффект короны и лучи создают впечатление яркой звезды, а не просто жёлтого круга.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82721"/>
            <a:ext cx="5179615" cy="144874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Отрисовка планет с градиентом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22250"/>
            <a:ext cx="9056915" cy="374718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Планеты </a:t>
            </a:r>
            <a:r>
              <a:rPr lang="ru-RU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отрисовываются</a:t>
            </a: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 градиентной заливкой (несколько слоёв разного цвета) для создания объёма. Используются два цвета: основной и более тёмный для создания эффекта полутени.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Градиент делает планеты объёмными и реалистичными, вместо плоских кругов. Чередование цветов создаёт иллюзию сферической поверхности.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ECED9-3D31-C7EF-C4E5-0D218F61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932" y="584477"/>
            <a:ext cx="10354052" cy="120976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ЗАКЛЮЧЕНИЕ</a:t>
            </a:r>
          </a:p>
        </p:txBody>
      </p:sp>
      <p:graphicFrame>
        <p:nvGraphicFramePr>
          <p:cNvPr id="5" name="Таблица 9">
            <a:extLst>
              <a:ext uri="{FF2B5EF4-FFF2-40B4-BE49-F238E27FC236}">
                <a16:creationId xmlns:a16="http://schemas.microsoft.com/office/drawing/2014/main" id="{B782709C-FC0C-E355-9C94-A8EE025BAC7B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946937669"/>
              </p:ext>
            </p:extLst>
          </p:nvPr>
        </p:nvGraphicFramePr>
        <p:xfrm>
          <a:off x="1229932" y="1679465"/>
          <a:ext cx="10573367" cy="4576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8110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5595257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</a:tblGrid>
              <a:tr h="589649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 "Симулятор Солнечной системы"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  <a:p>
                      <a:pPr algn="l" rtl="0" fontAlgn="b"/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представляет собой полноценное приложение с графическим интерфейсом, реализующее:</a:t>
                      </a:r>
                    </a:p>
                    <a:p>
                      <a:pPr algn="l" rtl="0" fontAlgn="b"/>
                      <a:endParaRPr lang="ru-RU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671558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 fontAlgn="b"/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 fontAlgn="b"/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589649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lvl="1" algn="l" rtl="0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Орбитальную механику 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расчёт и отображение движения 8 планет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814534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lvl="1" algn="l" rtl="0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Визуализацию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отрисовка небесных тел с эффектами (градиенты, кольца, мерцающие звёзды)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671558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Интерактивный интерфейс </a:t>
                      </a:r>
                      <a:endParaRPr lang="ru-RU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  <a:p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мышью, горячие клавиши, панели информации</a:t>
                      </a:r>
                    </a:p>
                    <a:p>
                      <a:pPr algn="l" rtl="0" fontAlgn="b"/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671558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Гибкую систему изображений </a:t>
                      </a: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подробные научные данные о каждой планете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E50FF3-CE3C-DDFB-B8EA-5BA1668A1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3500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595" y="548005"/>
            <a:ext cx="5057104" cy="362498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2415C2-4709-43A2-86D1-B725806BA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Arial"/>
      </a:majorFont>
      <a:minorFont>
        <a:latin typeface="Tenori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74_TF22318419_Win32" id="{190C78A2-73A9-4810-90AD-E7DCF6145837}" vid="{9BDBB77D-0AF8-4EC5-880C-F23D138FD676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Вид</Template>
  <TotalTime>75</TotalTime>
  <Words>591</Words>
  <Application>Microsoft Office PowerPoint</Application>
  <PresentationFormat>Широкоэкранный</PresentationFormat>
  <Paragraphs>67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quote-cjk-patch</vt:lpstr>
      <vt:lpstr>Пользовательская</vt:lpstr>
      <vt:lpstr>"СИМУЛЯТОР СОЛНЕЧНОЙ СИСТЕМЫ"</vt:lpstr>
      <vt:lpstr>ОРБИТАЛЬНАЯ МЕХАНИКА И РАЗМЕЩЕНИЕ ТЕЛ</vt:lpstr>
      <vt:lpstr>"Сердце программы — это орбитальная механика. Положение каждой планеты рассчитывается по тригонометрической формуле. Внутренние планеты, такие как Меркурий и Венера, имеют маленький период обращения и движутся быстрее, а внешние — медленнее. Это полностью соответствует реальной картине мира.</vt:lpstr>
      <vt:lpstr> Отрисовка орбит планет</vt:lpstr>
      <vt:lpstr>  Зачем это нужно:</vt:lpstr>
      <vt:lpstr>Масштабирование и перемещение вида</vt:lpstr>
      <vt:lpstr>Автоматическая подгонка масштаба</vt:lpstr>
      <vt:lpstr>ВИЗУАЛИЗАЦИЯ НЕБЕСНЫХ ТЕЛ</vt:lpstr>
      <vt:lpstr>Отрисовка планет с градиентом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"СИМУЛЯТОР СОЛНЕЧНОЙ СИСТЕМЫ"</dc:title>
  <dc:creator>студент С.В.А</dc:creator>
  <cp:lastModifiedBy>студент С.В.А</cp:lastModifiedBy>
  <cp:revision>5</cp:revision>
  <dcterms:created xsi:type="dcterms:W3CDTF">2026-03-03T06:25:52Z</dcterms:created>
  <dcterms:modified xsi:type="dcterms:W3CDTF">2026-03-04T09:06:04Z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