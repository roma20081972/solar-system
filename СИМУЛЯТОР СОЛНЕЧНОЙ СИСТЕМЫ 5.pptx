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9"/>
  </p:notesMasterIdLst>
  <p:handoutMasterIdLst>
    <p:handoutMasterId r:id="rId20"/>
  </p:handoutMasterIdLst>
  <p:sldIdLst>
    <p:sldId id="314" r:id="rId5"/>
    <p:sldId id="326" r:id="rId6"/>
    <p:sldId id="327" r:id="rId7"/>
    <p:sldId id="328" r:id="rId8"/>
    <p:sldId id="315" r:id="rId9"/>
    <p:sldId id="316" r:id="rId10"/>
    <p:sldId id="317" r:id="rId11"/>
    <p:sldId id="318" r:id="rId12"/>
    <p:sldId id="319" r:id="rId13"/>
    <p:sldId id="320" r:id="rId14"/>
    <p:sldId id="321" r:id="rId15"/>
    <p:sldId id="322" r:id="rId16"/>
    <p:sldId id="325" r:id="rId17"/>
    <p:sldId id="309" r:id="rId18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5388" autoAdjust="0"/>
  </p:normalViewPr>
  <p:slideViewPr>
    <p:cSldViewPr snapToGrid="0">
      <p:cViewPr varScale="1">
        <p:scale>
          <a:sx n="110" d="100"/>
          <a:sy n="110" d="100"/>
        </p:scale>
        <p:origin x="264" y="108"/>
      </p:cViewPr>
      <p:guideLst>
        <p:guide orient="horz" pos="3360"/>
        <p:guide pos="3840"/>
      </p:guideLst>
    </p:cSldViewPr>
  </p:slideViewPr>
  <p:outlineViewPr>
    <p:cViewPr>
      <p:scale>
        <a:sx n="33" d="100"/>
        <a:sy n="33" d="100"/>
      </p:scale>
      <p:origin x="0" y="-12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80" d="100"/>
          <a:sy n="80" d="100"/>
        </p:scale>
        <p:origin x="3984" y="1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8542D7CC-E8A3-429C-9F30-B39663AB044E}" type="datetime1">
              <a:rPr lang="ru-RU" smtClean="0"/>
              <a:t>04.03.2026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4BF9A36D-7FAC-478F-9944-F324014F6FD1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fld id="{89D3EA30-A193-4EC3-B66C-38C9131FAA4E}" type="datetime1">
              <a:rPr lang="ru-RU" smtClean="0"/>
              <a:pPr/>
              <a:t>04.03.2026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D4B9A9E5-4F7F-4A7D-9DE1-899232329269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4B9A9E5-4F7F-4A7D-9DE1-899232329269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9137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4B9A9E5-4F7F-4A7D-9DE1-899232329269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8969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4B9A9E5-4F7F-4A7D-9DE1-899232329269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8550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4B9A9E5-4F7F-4A7D-9DE1-899232329269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360335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4B9A9E5-4F7F-4A7D-9DE1-899232329269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12420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4B9A9E5-4F7F-4A7D-9DE1-899232329269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64728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4B9A9E5-4F7F-4A7D-9DE1-899232329269}" type="slidenum">
              <a:rPr lang="ru-RU" smtClean="0"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551265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4B9A9E5-4F7F-4A7D-9DE1-899232329269}" type="slidenum">
              <a:rPr lang="ru-RU" smtClean="0"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42295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4B9A9E5-4F7F-4A7D-9DE1-899232329269}" type="slidenum">
              <a:rPr lang="ru-RU" smtClean="0"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65656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4B9A9E5-4F7F-4A7D-9DE1-899232329269}" type="slidenum">
              <a:rPr lang="ru-RU" smtClean="0"/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17676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4B9A9E5-4F7F-4A7D-9DE1-899232329269}" type="slidenum">
              <a:rPr lang="ru-RU" smtClean="0"/>
              <a:t>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29966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0.svg"/><Relationship Id="rId4" Type="http://schemas.openxmlformats.org/officeDocument/2006/relationships/image" Target="../media/image1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3.svg"/><Relationship Id="rId4" Type="http://schemas.openxmlformats.org/officeDocument/2006/relationships/image" Target="../media/image1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rtlCol="0" anchor="b">
            <a:normAutofit/>
          </a:bodyPr>
          <a:lstStyle>
            <a:lvl1pPr>
              <a:defRPr lang="ru-RU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pic>
        <p:nvPicPr>
          <p:cNvPr id="7" name="Графический объект 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вед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Графический объект 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Графический объект 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rtlCol="0" anchor="b">
            <a:normAutofit/>
          </a:bodyPr>
          <a:lstStyle>
            <a:lvl1pPr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buNone/>
              <a:defRPr lang="ru-RU" sz="2000"/>
            </a:lvl1pPr>
            <a:lvl2pPr>
              <a:lnSpc>
                <a:spcPct val="120000"/>
              </a:lnSpc>
              <a:defRPr lang="ru-RU" sz="1800"/>
            </a:lvl2pPr>
            <a:lvl3pPr>
              <a:lnSpc>
                <a:spcPct val="120000"/>
              </a:lnSpc>
              <a:defRPr lang="ru-RU" sz="1600"/>
            </a:lvl3pPr>
            <a:lvl4pPr>
              <a:lnSpc>
                <a:spcPct val="120000"/>
              </a:lnSpc>
              <a:defRPr lang="ru-RU" sz="1400"/>
            </a:lvl4pPr>
            <a:lvl5pPr>
              <a:lnSpc>
                <a:spcPct val="120000"/>
              </a:lnSpc>
              <a:defRPr lang="ru-RU" sz="14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Графический объект 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rtlCol="0" anchor="b">
            <a:normAutofit/>
          </a:bodyPr>
          <a:lstStyle>
            <a:lvl1pPr>
              <a:defRPr lang="ru-RU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ctr">
              <a:buNone/>
              <a:defRPr lang="ru-RU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Щелкните значок, чтобы вставить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зор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Графический объект 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rtlCol="0" anchor="b">
            <a:normAutofit/>
          </a:bodyPr>
          <a:lstStyle>
            <a:lvl1pPr>
              <a:defRPr lang="ru-RU" sz="48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 rtlCol="0">
            <a:normAutofit/>
          </a:bodyPr>
          <a:lstStyle>
            <a:lvl1pPr marL="0" indent="0">
              <a:buFont typeface="Arial" panose="020B0604020202020204" pitchFamily="34" charset="0"/>
              <a:buNone/>
              <a:defRPr lang="ru-RU" sz="2000"/>
            </a:lvl1pPr>
            <a:lvl2pPr marL="457200" indent="0">
              <a:buNone/>
              <a:defRPr lang="ru-RU" sz="1800"/>
            </a:lvl2pPr>
            <a:lvl3pPr marL="914400" indent="0">
              <a:buNone/>
              <a:defRPr lang="ru-RU" sz="1600"/>
            </a:lvl3pPr>
            <a:lvl4pPr marL="1371600" indent="0">
              <a:buNone/>
              <a:defRPr lang="ru-RU" sz="1400"/>
            </a:lvl4pPr>
            <a:lvl5pPr marL="1828800" indent="0">
              <a:buNone/>
              <a:defRPr lang="ru-RU" sz="14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Графический объект 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Графический объект 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 rtlCol="0">
            <a:normAutofit/>
          </a:bodyPr>
          <a:lstStyle>
            <a:lvl1pPr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ru-RU" sz="2000"/>
            </a:lvl1pPr>
            <a:lvl2pPr>
              <a:spcBef>
                <a:spcPts val="0"/>
              </a:spcBef>
              <a:spcAft>
                <a:spcPts val="1200"/>
              </a:spcAft>
              <a:defRPr lang="ru-RU" sz="1800"/>
            </a:lvl2pPr>
            <a:lvl3pPr>
              <a:spcBef>
                <a:spcPts val="0"/>
              </a:spcBef>
              <a:spcAft>
                <a:spcPts val="1200"/>
              </a:spcAft>
              <a:defRPr lang="ru-RU" sz="1600"/>
            </a:lvl3pPr>
            <a:lvl4pPr>
              <a:spcBef>
                <a:spcPts val="0"/>
              </a:spcBef>
              <a:spcAft>
                <a:spcPts val="1200"/>
              </a:spcAft>
              <a:defRPr lang="ru-RU" sz="1400"/>
            </a:lvl4pPr>
            <a:lvl5pPr>
              <a:spcBef>
                <a:spcPts val="0"/>
              </a:spcBef>
              <a:spcAft>
                <a:spcPts val="1200"/>
              </a:spcAft>
              <a:defRPr lang="ru-RU" sz="14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содержимое и изображение слева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Графический объект 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rtlCol="0" anchor="b">
            <a:normAutofit/>
          </a:bodyPr>
          <a:lstStyle>
            <a:lvl1pPr>
              <a:defRPr lang="ru-RU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l">
              <a:buNone/>
              <a:defRPr lang="ru-RU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9" name="Объект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lang="ru-RU"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два объекта содержимого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Графический объект 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Графический объект 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 rtlCol="0">
            <a:normAutofit/>
          </a:bodyPr>
          <a:lstStyle>
            <a:lvl1pPr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ru-RU" sz="2000"/>
            </a:lvl1pPr>
            <a:lvl2pPr>
              <a:spcBef>
                <a:spcPts val="0"/>
              </a:spcBef>
              <a:spcAft>
                <a:spcPts val="1200"/>
              </a:spcAft>
              <a:defRPr lang="ru-RU" sz="1800"/>
            </a:lvl2pPr>
            <a:lvl3pPr>
              <a:spcBef>
                <a:spcPts val="0"/>
              </a:spcBef>
              <a:spcAft>
                <a:spcPts val="1200"/>
              </a:spcAft>
              <a:defRPr lang="ru-RU" sz="1600"/>
            </a:lvl3pPr>
            <a:lvl4pPr>
              <a:spcBef>
                <a:spcPts val="0"/>
              </a:spcBef>
              <a:spcAft>
                <a:spcPts val="1200"/>
              </a:spcAft>
              <a:defRPr lang="ru-RU" sz="1400"/>
            </a:lvl4pPr>
            <a:lvl5pPr>
              <a:spcBef>
                <a:spcPts val="0"/>
              </a:spcBef>
              <a:spcAft>
                <a:spcPts val="1200"/>
              </a:spcAft>
              <a:defRPr lang="ru-RU" sz="14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2" name="Объект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ru-RU" sz="2000"/>
            </a:lvl1pPr>
            <a:lvl2pPr>
              <a:spcBef>
                <a:spcPts val="0"/>
              </a:spcBef>
              <a:spcAft>
                <a:spcPts val="1200"/>
              </a:spcAft>
              <a:defRPr lang="ru-RU" sz="1800"/>
            </a:lvl2pPr>
            <a:lvl3pPr>
              <a:spcBef>
                <a:spcPts val="0"/>
              </a:spcBef>
              <a:spcAft>
                <a:spcPts val="1200"/>
              </a:spcAft>
              <a:defRPr lang="ru-RU" sz="1600"/>
            </a:lvl3pPr>
            <a:lvl4pPr>
              <a:spcBef>
                <a:spcPts val="0"/>
              </a:spcBef>
              <a:spcAft>
                <a:spcPts val="1200"/>
              </a:spcAft>
              <a:defRPr lang="ru-RU" sz="1400"/>
            </a:lvl4pPr>
            <a:lvl5pPr>
              <a:spcBef>
                <a:spcPts val="0"/>
              </a:spcBef>
              <a:spcAft>
                <a:spcPts val="1200"/>
              </a:spcAft>
              <a:defRPr lang="ru-RU" sz="14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два объекта содержимого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Графический объект 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Графический объект 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 rtlCol="0">
            <a:normAutofit/>
          </a:bodyPr>
          <a:lstStyle>
            <a:lvl1pPr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ru-RU" sz="2000" b="1"/>
            </a:lvl1pPr>
            <a:lvl2pPr>
              <a:spcBef>
                <a:spcPts val="0"/>
              </a:spcBef>
              <a:spcAft>
                <a:spcPts val="1200"/>
              </a:spcAft>
              <a:defRPr lang="ru-RU" sz="1800" b="1"/>
            </a:lvl2pPr>
            <a:lvl3pPr>
              <a:spcBef>
                <a:spcPts val="0"/>
              </a:spcBef>
              <a:spcAft>
                <a:spcPts val="1200"/>
              </a:spcAft>
              <a:defRPr lang="ru-RU" sz="1600" b="1"/>
            </a:lvl3pPr>
            <a:lvl4pPr>
              <a:spcBef>
                <a:spcPts val="0"/>
              </a:spcBef>
              <a:spcAft>
                <a:spcPts val="1200"/>
              </a:spcAft>
              <a:defRPr lang="ru-RU" sz="1400" b="1"/>
            </a:lvl4pPr>
            <a:lvl5pPr>
              <a:spcBef>
                <a:spcPts val="0"/>
              </a:spcBef>
              <a:spcAft>
                <a:spcPts val="1200"/>
              </a:spcAft>
              <a:defRPr lang="ru-RU" sz="1400" b="1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2" name="Объект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ru-RU" sz="2000"/>
            </a:lvl1pPr>
            <a:lvl2pPr>
              <a:spcBef>
                <a:spcPts val="0"/>
              </a:spcBef>
              <a:spcAft>
                <a:spcPts val="1200"/>
              </a:spcAft>
              <a:defRPr lang="ru-RU" sz="1800"/>
            </a:lvl2pPr>
            <a:lvl3pPr>
              <a:spcBef>
                <a:spcPts val="0"/>
              </a:spcBef>
              <a:spcAft>
                <a:spcPts val="1200"/>
              </a:spcAft>
              <a:defRPr lang="ru-RU" sz="1600"/>
            </a:lvl3pPr>
            <a:lvl4pPr>
              <a:spcBef>
                <a:spcPts val="0"/>
              </a:spcBef>
              <a:spcAft>
                <a:spcPts val="1200"/>
              </a:spcAft>
              <a:defRPr lang="ru-RU" sz="1400"/>
            </a:lvl4pPr>
            <a:lvl5pPr>
              <a:spcBef>
                <a:spcPts val="0"/>
              </a:spcBef>
              <a:spcAft>
                <a:spcPts val="1200"/>
              </a:spcAft>
              <a:defRPr lang="ru-RU" sz="14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содержимое и изображение справ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Графический объект 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 rtlCol="0">
            <a:normAutofit/>
          </a:bodyPr>
          <a:lstStyle>
            <a:lvl1pPr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0" name="Объект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ru-RU" sz="2000" b="0"/>
            </a:lvl1pPr>
            <a:lvl2pPr>
              <a:spcBef>
                <a:spcPts val="0"/>
              </a:spcBef>
              <a:spcAft>
                <a:spcPts val="1200"/>
              </a:spcAft>
              <a:defRPr lang="ru-RU" sz="1800" b="0"/>
            </a:lvl2pPr>
            <a:lvl3pPr>
              <a:spcBef>
                <a:spcPts val="0"/>
              </a:spcBef>
              <a:spcAft>
                <a:spcPts val="1200"/>
              </a:spcAft>
              <a:defRPr lang="ru-RU" sz="1600" b="0"/>
            </a:lvl3pPr>
            <a:lvl4pPr>
              <a:spcBef>
                <a:spcPts val="0"/>
              </a:spcBef>
              <a:spcAft>
                <a:spcPts val="1200"/>
              </a:spcAft>
              <a:defRPr lang="ru-RU" sz="1400" b="0"/>
            </a:lvl4pPr>
            <a:lvl5pPr>
              <a:spcBef>
                <a:spcPts val="0"/>
              </a:spcBef>
              <a:spcAft>
                <a:spcPts val="1200"/>
              </a:spcAft>
              <a:defRPr lang="ru-RU" sz="1400" b="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r">
              <a:buNone/>
              <a:defRPr lang="ru-RU" sz="2000"/>
            </a:lvl1pPr>
          </a:lstStyle>
          <a:p>
            <a:pPr rtl="0"/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содержимое и таблиц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Графический объект 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Arial" panose="020B0604020202020204" pitchFamily="34" charset="0"/>
            </a:endParaRPr>
          </a:p>
        </p:txBody>
      </p:sp>
      <p:pic>
        <p:nvPicPr>
          <p:cNvPr id="9" name="Графический объект 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 rtlCol="0">
            <a:normAutofit/>
          </a:bodyPr>
          <a:lstStyle>
            <a:lvl1pPr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ru-RU" sz="2000" b="0"/>
            </a:lvl1pPr>
            <a:lvl2pPr>
              <a:spcBef>
                <a:spcPts val="0"/>
              </a:spcBef>
              <a:spcAft>
                <a:spcPts val="1200"/>
              </a:spcAft>
              <a:defRPr lang="ru-RU" sz="1800" b="0"/>
            </a:lvl2pPr>
            <a:lvl3pPr>
              <a:spcBef>
                <a:spcPts val="0"/>
              </a:spcBef>
              <a:spcAft>
                <a:spcPts val="1200"/>
              </a:spcAft>
              <a:defRPr lang="ru-RU" sz="1600" b="0"/>
            </a:lvl3pPr>
            <a:lvl4pPr>
              <a:spcBef>
                <a:spcPts val="0"/>
              </a:spcBef>
              <a:spcAft>
                <a:spcPts val="1200"/>
              </a:spcAft>
              <a:defRPr lang="ru-RU" sz="1400" b="0"/>
            </a:lvl4pPr>
            <a:lvl5pPr>
              <a:spcBef>
                <a:spcPts val="0"/>
              </a:spcBef>
              <a:spcAft>
                <a:spcPts val="1200"/>
              </a:spcAft>
              <a:defRPr lang="ru-RU" sz="1400" b="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3" name="Заполнитель таблицы 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 rtlCol="0">
            <a:normAutofit/>
          </a:bodyPr>
          <a:lstStyle>
            <a:lvl1pPr>
              <a:defRPr lang="ru-RU" sz="2000"/>
            </a:lvl1pPr>
          </a:lstStyle>
          <a:p>
            <a:pPr rtl="0"/>
            <a:r>
              <a:rPr lang="ru-RU"/>
              <a:t>Щелкните значок, чтобы вставить таблицу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два объекта содержимого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Графический объект 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Графический объект 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 rtlCol="0">
            <a:normAutofit/>
          </a:bodyPr>
          <a:lstStyle>
            <a:lvl1pPr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lang="ru-RU"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lang="ru-RU"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lang="ru-RU"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lang="ru-RU"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lang="ru-RU" sz="1600" b="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2" name="Объект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ru-RU"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lang="ru-RU"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lang="ru-RU"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lang="ru-RU"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lang="ru-RU" sz="1400" b="1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Графический объект 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 rtlCol="0">
            <a:normAutofit/>
          </a:bodyPr>
          <a:lstStyle>
            <a:lvl1pPr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9" name="Заполнитель таблицы 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 rtlCol="0">
            <a:normAutofit/>
          </a:bodyPr>
          <a:lstStyle>
            <a:lvl1pPr>
              <a:defRPr lang="ru-RU" sz="2400"/>
            </a:lvl1pPr>
          </a:lstStyle>
          <a:p>
            <a:pPr rtl="0"/>
            <a:r>
              <a:rPr lang="ru-RU"/>
              <a:t>Вставка таблицы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rtlCol="0" anchor="b">
            <a:normAutofit/>
          </a:bodyPr>
          <a:lstStyle>
            <a:lvl1pPr>
              <a:defRPr lang="ru-RU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 rtlCol="0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lang="ru-RU"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pic>
        <p:nvPicPr>
          <p:cNvPr id="2" name="Графический объект 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 dirty="0"/>
              <a:t>Щелкните, чтобы изменить стили текста образца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ru-RU"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ru-RU" dirty="0"/>
              <a:t>Набор слайдов для презентации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ru-RU"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0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4400" kern="1200" cap="all" baseline="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ru-RU"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440D96-BFFB-05BD-30ED-0352500C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3714" y="894806"/>
            <a:ext cx="5674360" cy="3200400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"СИМУЛЯТОР СОЛНЕЧНОЙ СИСТЕМЫ"</a:t>
            </a:r>
            <a:endParaRPr lang="ru-RU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44C503-2E09-4595-8779-B90E598F7CD7}"/>
              </a:ext>
            </a:extLst>
          </p:cNvPr>
          <p:cNvSpPr txBox="1"/>
          <p:nvPr/>
        </p:nvSpPr>
        <p:spPr>
          <a:xfrm>
            <a:off x="10659292" y="6211669"/>
            <a:ext cx="28825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Орлов Роман 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23 </a:t>
            </a:r>
            <a:r>
              <a:rPr lang="ru-RU" dirty="0" err="1">
                <a:solidFill>
                  <a:schemeClr val="bg1"/>
                </a:solidFill>
              </a:rPr>
              <a:t>исд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5390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1295AE-6C5F-48E4-9B12-051C4EC45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88434"/>
            <a:ext cx="5181600" cy="2376868"/>
          </a:xfrm>
        </p:spPr>
        <p:txBody>
          <a:bodyPr/>
          <a:lstStyle/>
          <a:p>
            <a:r>
              <a:rPr kumimoji="0" lang="ru-RU" altLang="ru-RU" sz="3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Основные цели проекта:</a:t>
            </a:r>
            <a:br>
              <a:rPr kumimoji="0" lang="ru-RU" altLang="ru-RU" sz="3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953366C-DD46-4667-A9EE-E6D90E23C7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B5CEABB6-07DC-46E8-9B57-56EC44A396E5}" type="slidenum">
              <a:rPr lang="ru-RU" smtClean="0"/>
              <a:pPr rtl="0"/>
              <a:t>2</a:t>
            </a:fld>
            <a:endParaRPr lang="ru-RU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8781F4F-6E7A-4DDB-B9B8-9F17484B0F3A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115408" y="978181"/>
            <a:ext cx="6551721" cy="547832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03136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Основные цели проекта: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1. Образовательная цель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Создать наглядный интерактивный инструмент для изучения астрономии, который поможет пользователям (школьникам, студентам, любителям космоса) лучше понять устройство Солнечной системы, принципы движения планет и их характеристики.</a:t>
            </a:r>
            <a:endParaRPr kumimoji="0" lang="ru-RU" altLang="ru-RU" sz="1200" b="1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2. Техническая цель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Разработать полноценное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desktop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-приложение с графическим интерфейсом на языке Python, демонстрирующее возможности стандартных библиотек для создания сложных визуализаций и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анимаций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ru-RU" altLang="ru-RU" sz="1200" b="1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3. Моделирующая цель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Реализовать физически корректную модель орбитального движения, где скорость каждой планеты зависит от её периода обращения (внутренние планеты движутся быстрее внешних).</a:t>
            </a:r>
            <a:endParaRPr kumimoji="0" lang="ru-RU" altLang="ru-RU" sz="1200" b="1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4. Интерактивная цель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Обеспечить удобное взаимодействие пользователя с симуляцией через:</a:t>
            </a:r>
            <a:endParaRPr kumimoji="0" lang="ru-RU" alt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Масштабирование и перемещение по карте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Получение информации при наведении на планеты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Управление скоростью анимации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Горячие клавиши для быстрого доступа к функциям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5. Визуальная цель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Создать эстетически приятную картинку с эффектами (градиенты планет, корона Солнца, мерцающие звёзды, кольца Сатурна), чтобы удерживать внимание пользователя и делать процесс изучения увлекательным.</a:t>
            </a:r>
            <a:endParaRPr kumimoji="0" lang="ru-RU" altLang="ru-RU" sz="1200" b="1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6. Практическая цель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Разработать автономное кроссплатформенное приложение, не требующее подключения к интернету и установки сложных зависимостей, которое можно легко запустить на любом компьютере.</a:t>
            </a:r>
            <a:endParaRPr kumimoji="0" lang="ru-RU" alt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9752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88A74A-DB5A-42BA-B77B-3266A1694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 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ED58C802-9123-4DDB-8031-9DAC0232B9F8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790751154"/>
              </p:ext>
            </p:extLst>
          </p:nvPr>
        </p:nvGraphicFramePr>
        <p:xfrm>
          <a:off x="304056" y="300037"/>
          <a:ext cx="4869579" cy="3718440"/>
        </p:xfrm>
        <a:graphic>
          <a:graphicData uri="http://schemas.openxmlformats.org/drawingml/2006/table">
            <a:tbl>
              <a:tblPr/>
              <a:tblGrid>
                <a:gridCol w="1623193">
                  <a:extLst>
                    <a:ext uri="{9D8B030D-6E8A-4147-A177-3AD203B41FA5}">
                      <a16:colId xmlns:a16="http://schemas.microsoft.com/office/drawing/2014/main" val="2860264422"/>
                    </a:ext>
                  </a:extLst>
                </a:gridCol>
                <a:gridCol w="1623193">
                  <a:extLst>
                    <a:ext uri="{9D8B030D-6E8A-4147-A177-3AD203B41FA5}">
                      <a16:colId xmlns:a16="http://schemas.microsoft.com/office/drawing/2014/main" val="495049547"/>
                    </a:ext>
                  </a:extLst>
                </a:gridCol>
                <a:gridCol w="1623193">
                  <a:extLst>
                    <a:ext uri="{9D8B030D-6E8A-4147-A177-3AD203B41FA5}">
                      <a16:colId xmlns:a16="http://schemas.microsoft.com/office/drawing/2014/main" val="671424062"/>
                    </a:ext>
                  </a:extLst>
                </a:gridCol>
              </a:tblGrid>
              <a:tr h="502499">
                <a:tc>
                  <a:txBody>
                    <a:bodyPr/>
                    <a:lstStyle/>
                    <a:p>
                      <a:pPr algn="l"/>
                      <a:r>
                        <a:rPr lang="ru-RU" sz="1400" b="0">
                          <a:effectLst/>
                          <a:latin typeface="quote-cjk-patch"/>
                        </a:rPr>
                        <a:t>Библиотека</a:t>
                      </a:r>
                    </a:p>
                  </a:txBody>
                  <a:tcPr marL="62165" marR="103608" marT="64755" marB="647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>
                          <a:effectLst/>
                          <a:latin typeface="quote-cjk-patch"/>
                        </a:rPr>
                        <a:t>Назначение</a:t>
                      </a:r>
                    </a:p>
                  </a:txBody>
                  <a:tcPr marL="103608" marR="103608" marT="64755" marB="647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>
                          <a:effectLst/>
                          <a:latin typeface="quote-cjk-patch"/>
                        </a:rPr>
                        <a:t>Где используется в коде</a:t>
                      </a:r>
                    </a:p>
                  </a:txBody>
                  <a:tcPr marL="103608" marR="103608" marT="64755" marB="647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388514"/>
                  </a:ext>
                </a:extLst>
              </a:tr>
              <a:tr h="875488"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effectLst/>
                          <a:latin typeface="quote-cjk-patch"/>
                        </a:rPr>
                        <a:t>tkinter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62165" marR="103608" marT="64755" marB="647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effectLst/>
                          <a:latin typeface="quote-cjk-patch"/>
                        </a:rPr>
                        <a:t>Создание графического интерфейса</a:t>
                      </a:r>
                    </a:p>
                  </a:txBody>
                  <a:tcPr marL="103608" marR="103608" marT="64755" marB="647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quote-cjk-patch"/>
                        </a:rPr>
                        <a:t>Все окна, холст для рисования, кнопки, ползунки, текстовая панель</a:t>
                      </a:r>
                    </a:p>
                  </a:txBody>
                  <a:tcPr marL="103608" marR="62165" marT="64755" marB="647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7461407"/>
                  </a:ext>
                </a:extLst>
              </a:tr>
              <a:tr h="875488">
                <a:tc>
                  <a:txBody>
                    <a:bodyPr/>
                    <a:lstStyle/>
                    <a:p>
                      <a:r>
                        <a:rPr lang="en-US" sz="1400" b="1">
                          <a:effectLst/>
                          <a:latin typeface="quote-cjk-patch"/>
                        </a:rPr>
                        <a:t>math</a:t>
                      </a:r>
                      <a:endParaRPr lang="en-US" sz="1400" b="0">
                        <a:effectLst/>
                        <a:latin typeface="quote-cjk-patch"/>
                      </a:endParaRPr>
                    </a:p>
                  </a:txBody>
                  <a:tcPr marL="62165" marR="103608" marT="64755" marB="647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quote-cjk-patch"/>
                        </a:rPr>
                        <a:t>Математические расчёты</a:t>
                      </a:r>
                    </a:p>
                  </a:txBody>
                  <a:tcPr marL="103608" marR="103608" marT="64755" marB="647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quote-cjk-patch"/>
                        </a:rPr>
                        <a:t>Тригонометрические функции для расчёта позиций планет (cos, sin, pi)</a:t>
                      </a:r>
                    </a:p>
                  </a:txBody>
                  <a:tcPr marL="103608" marR="62165" marT="64755" marB="647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9911646"/>
                  </a:ext>
                </a:extLst>
              </a:tr>
              <a:tr h="875488">
                <a:tc>
                  <a:txBody>
                    <a:bodyPr/>
                    <a:lstStyle/>
                    <a:p>
                      <a:r>
                        <a:rPr lang="en-US" sz="1400" b="1" dirty="0">
                          <a:effectLst/>
                          <a:latin typeface="quote-cjk-patch"/>
                        </a:rPr>
                        <a:t>random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62165" marR="103608" marT="64755" marB="647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quote-cjk-patch"/>
                        </a:rPr>
                        <a:t>Генерация случайных чисел</a:t>
                      </a:r>
                    </a:p>
                  </a:txBody>
                  <a:tcPr marL="103608" marR="103608" marT="64755" marB="647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effectLst/>
                          <a:latin typeface="quote-cjk-patch"/>
                        </a:rPr>
                        <a:t>Создание мерцания звёзд, их случайное расположение на фоне</a:t>
                      </a:r>
                    </a:p>
                  </a:txBody>
                  <a:tcPr marL="103608" marR="62165" marT="64755" marB="647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1675957"/>
                  </a:ext>
                </a:extLst>
              </a:tr>
            </a:tbl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36440D4-8BA3-4ABC-95DA-EB8924E6B1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B5CEABB6-07DC-46E8-9B57-56EC44A396E5}" type="slidenum">
              <a:rPr lang="ru-RU" smtClean="0"/>
              <a:pPr rtl="0"/>
              <a:t>3</a:t>
            </a:fld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EAF5A5-6FE2-4116-AE97-F5D8A25436F5}"/>
              </a:ext>
            </a:extLst>
          </p:cNvPr>
          <p:cNvSpPr txBox="1"/>
          <p:nvPr/>
        </p:nvSpPr>
        <p:spPr>
          <a:xfrm>
            <a:off x="304056" y="3957144"/>
            <a:ext cx="50945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import </a:t>
            </a:r>
            <a:r>
              <a:rPr lang="en-US" dirty="0" err="1"/>
              <a:t>tkinter</a:t>
            </a:r>
            <a:r>
              <a:rPr lang="en-US" dirty="0"/>
              <a:t> as </a:t>
            </a:r>
            <a:r>
              <a:rPr lang="en-US" dirty="0" err="1"/>
              <a:t>tk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tkinter</a:t>
            </a:r>
            <a:r>
              <a:rPr lang="en-US" dirty="0"/>
              <a:t> import </a:t>
            </a:r>
            <a:r>
              <a:rPr lang="en-US" dirty="0" err="1"/>
              <a:t>ttk</a:t>
            </a:r>
            <a:r>
              <a:rPr lang="en-US" dirty="0"/>
              <a:t>  # </a:t>
            </a:r>
            <a:r>
              <a:rPr lang="ru-RU" dirty="0"/>
              <a:t>Для стилизованных виджетов (ползунки)</a:t>
            </a:r>
          </a:p>
          <a:p>
            <a:r>
              <a:rPr lang="en-US" dirty="0"/>
              <a:t>import math</a:t>
            </a:r>
          </a:p>
          <a:p>
            <a:r>
              <a:rPr lang="en-US" dirty="0"/>
              <a:t>import random</a:t>
            </a:r>
          </a:p>
          <a:p>
            <a:r>
              <a:rPr lang="en-US" dirty="0"/>
              <a:t>import </a:t>
            </a:r>
            <a:r>
              <a:rPr lang="en-US" dirty="0" err="1"/>
              <a:t>os</a:t>
            </a:r>
            <a:r>
              <a:rPr lang="en-US" dirty="0"/>
              <a:t>  # </a:t>
            </a:r>
            <a:r>
              <a:rPr lang="ru-RU" dirty="0"/>
              <a:t>Для работы с файловой системой (проверка наличия папки </a:t>
            </a:r>
            <a:r>
              <a:rPr lang="en-US" dirty="0"/>
              <a:t>images)</a:t>
            </a:r>
          </a:p>
          <a:p>
            <a:r>
              <a:rPr lang="en-US" dirty="0"/>
              <a:t>from PIL import Image, </a:t>
            </a:r>
            <a:r>
              <a:rPr lang="en-US" dirty="0" err="1"/>
              <a:t>ImageDraw</a:t>
            </a:r>
            <a:r>
              <a:rPr lang="en-US" dirty="0"/>
              <a:t>, </a:t>
            </a:r>
            <a:r>
              <a:rPr lang="en-US" dirty="0" err="1"/>
              <a:t>ImageTk</a:t>
            </a:r>
            <a:r>
              <a:rPr lang="en-US" dirty="0"/>
              <a:t>  # Pillow </a:t>
            </a:r>
            <a:r>
              <a:rPr lang="ru-RU" dirty="0"/>
              <a:t>для графики</a:t>
            </a:r>
          </a:p>
        </p:txBody>
      </p:sp>
    </p:spTree>
    <p:extLst>
      <p:ext uri="{BB962C8B-B14F-4D97-AF65-F5344CB8AC3E}">
        <p14:creationId xmlns:p14="http://schemas.microsoft.com/office/powerpoint/2010/main" val="2632838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C3F89A7E-0533-4CE8-BACC-0E2EC0F2C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3051" y="-2194920"/>
            <a:ext cx="5674360" cy="3200400"/>
          </a:xfrm>
        </p:spPr>
        <p:txBody>
          <a:bodyPr>
            <a:normAutofit/>
          </a:bodyPr>
          <a:lstStyle/>
          <a:p>
            <a:r>
              <a:rPr lang="ru-RU" sz="1400" dirty="0"/>
              <a:t>ГОРЯЧИЕ КЛАВИШИ ПРОЕКТА: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07653C0-7D0B-4AA0-9726-F2094A50D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9923" y="1747577"/>
            <a:ext cx="2982649" cy="1881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61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474D05E-8A36-8D9F-519E-DB514A69D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0" y="-1188434"/>
            <a:ext cx="5181600" cy="2376868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ОРБИТАЛЬНАЯ МЕХАНИКА И РАЗМЕЩЕНИЕ ТЕЛ</a:t>
            </a:r>
            <a:endParaRPr lang="ru-RU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20C1E08-E337-110E-DB8E-41BA4A3341A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0" y="1493235"/>
            <a:ext cx="5900057" cy="5669566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Механизм вычисляет текущие координаты каждой планеты на основе времени симуляции и периода обращения. Используется тригонометрическая формула для равномерного движения по окружности. Это основа всей анимации движения планет. Параметр </a:t>
            </a:r>
            <a:r>
              <a:rPr lang="ru-RU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time</a:t>
            </a: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увеличивается с каждым кадром, заставляя планеты двигаться по орбитам с разной скоростью в зависимости от их периода обращения.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rtl="0"/>
            <a:endParaRPr lang="ru-RU" sz="1600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0255621-1D81-03E6-507B-CB20E0703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B5CEABB6-07DC-46E8-9B57-56EC44A396E5}" type="slidenum">
              <a:rPr lang="ru-RU" smtClean="0"/>
              <a:pPr rtl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2059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36FD5F-786B-1974-5F47-94CA02CFA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53887"/>
            <a:ext cx="6116319" cy="5704113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Зачем это нужно:</a:t>
            </a:r>
            <a:b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Без этого механизма планеты стояли бы на месте. Именно этот код создаёт реалистичное движение небесных тел, где внутренние планеты (Меркурий, Венера) движутся быстрее внешних (Юпитер, Нептун).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D64AD63C-A7CC-41EC-8256-C284862EEE3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 l="22019" r="22019"/>
          <a:stretch/>
        </p:blipFill>
        <p:spPr>
          <a:xfrm>
            <a:off x="6085840" y="-10159"/>
            <a:ext cx="6106160" cy="6868160"/>
          </a:xfrm>
        </p:spPr>
      </p:pic>
    </p:spTree>
    <p:extLst>
      <p:ext uri="{BB962C8B-B14F-4D97-AF65-F5344CB8AC3E}">
        <p14:creationId xmlns:p14="http://schemas.microsoft.com/office/powerpoint/2010/main" val="4293742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DD59383-E6CD-CF57-B9CF-5820B1CEC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0" y="1310639"/>
            <a:ext cx="4805997" cy="2689629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Отрисовка орбит планет</a:t>
            </a:r>
            <a:endParaRPr lang="ru-RU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8B672BC8-D7EC-066C-9025-5F29713D849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73906" y="4000268"/>
            <a:ext cx="7511143" cy="3272839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Функция </a:t>
            </a:r>
            <a:r>
              <a:rPr lang="ru-RU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отрисовывает</a:t>
            </a:r>
            <a:r>
              <a:rPr lang="ru-RU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пунктирные окружности для каждой планеты, показывая траекторию их движения. Также добавляет подписи с расстоянием в астрономических единицах (AU). Орбиты отображаются только при включённом режиме </a:t>
            </a:r>
            <a:r>
              <a:rPr lang="ru-RU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show_orbits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9AB79A7-BBE9-4399-ACEA-5E327CE81BB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/>
          <a:srcRect l="31174" r="31174"/>
          <a:stretch/>
        </p:blipFill>
        <p:spPr/>
      </p:pic>
    </p:spTree>
    <p:extLst>
      <p:ext uri="{BB962C8B-B14F-4D97-AF65-F5344CB8AC3E}">
        <p14:creationId xmlns:p14="http://schemas.microsoft.com/office/powerpoint/2010/main" val="56176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8E4F0B-A6EB-861C-1C34-CAA9BDE47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b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Зачем это нужно: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F97739-E0DF-24F3-7886-013A799A52C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1976846"/>
            <a:ext cx="7273638" cy="4155757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Визуализация орбит помогает понять структуру Солнечной системы, относительные расстояния между планетами и форму их траекторий. Пунктирные линии делают орбиты ненавязчивыми, но заметными.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FE0D061-7327-A55C-AF6A-A95C24DD8B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B5CEABB6-07DC-46E8-9B57-56EC44A396E5}" type="slidenum">
              <a:rPr lang="ru-RU" smtClean="0"/>
              <a:pPr rtl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2000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808221-C29B-07A3-B569-B8B466B10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654" y="-2650943"/>
            <a:ext cx="5772346" cy="3624984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Масштабирование и перемещение вида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BEA7D4-8B96-5A0E-252E-6B8E8B1CF17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0" y="2489992"/>
            <a:ext cx="9013371" cy="5688016"/>
          </a:xfrm>
        </p:spPr>
        <p:txBody>
          <a:bodyPr rtlCol="0">
            <a:noAutofit/>
          </a:bodyPr>
          <a:lstStyle>
            <a:defPPr>
              <a:defRPr lang="ru-RU"/>
            </a:def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Система позволяет пользователю масштабировать изображение (колесиком мыши или ползунком) и перемещаться по карте (зажатием левой кнопки мыши). Реальные расстояния в Солнечной системе огромны, поэтому для комфортного просмотра используется динамическое масштабирование.</a:t>
            </a:r>
          </a:p>
        </p:txBody>
      </p:sp>
    </p:spTree>
    <p:extLst>
      <p:ext uri="{BB962C8B-B14F-4D97-AF65-F5344CB8AC3E}">
        <p14:creationId xmlns:p14="http://schemas.microsoft.com/office/powerpoint/2010/main" val="1760417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92D586-3F7C-3202-E4F4-1F65B9A7D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10363201" cy="1629601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Автоматическая подгонка масштаба</a:t>
            </a:r>
            <a:endParaRPr lang="ru-RU" sz="2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5DADF2-8E4D-6C0E-0FA2-C5228AF29C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22250"/>
            <a:ext cx="4992709" cy="3747180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Функция </a:t>
            </a:r>
            <a:r>
              <a:rPr lang="ru-RU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fit_all</a:t>
            </a: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 автоматически рассчитывает оптимальный масштаб, чтобы вся Солнечная система поместилась на экране. Учитывается максимальное расстояние до самой удалённой планеты (Нептун).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CFADA2D-CE7A-511E-45B9-EAF4FA520E3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84891" y="2022250"/>
            <a:ext cx="4992709" cy="3747180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Зачем это нужно: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Удобная функция для быстрого возврата к обзору всей системы после приближения к отдельным планетам.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D4FFC83-A1E8-FCEA-2C47-38C5ADAEA1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B5CEABB6-07DC-46E8-9B57-56EC44A396E5}" type="slidenum">
              <a:rPr lang="ru-RU" smtClean="0"/>
              <a:pPr rtl="0"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04034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BDB0AE-5ADD-1975-6BDD-386089250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8" y="-261147"/>
            <a:ext cx="10439401" cy="1617017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ВИЗУАЛИЗАЦИЯ НЕБЕСНЫХ ТЕЛ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74C67C-D286-74AE-086C-3E45FF9D954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0" y="1174574"/>
            <a:ext cx="4224527" cy="5367893"/>
          </a:xfrm>
        </p:spPr>
        <p:txBody>
          <a:bodyPr rtlCol="0">
            <a:noAutofit/>
          </a:bodyPr>
          <a:lstStyle>
            <a:defPPr>
              <a:defRPr lang="ru-RU"/>
            </a:def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4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Описание: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4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Солнце </a:t>
            </a:r>
            <a:r>
              <a:rPr lang="ru-RU" sz="2400" b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отрисовывается</a:t>
            </a:r>
            <a:r>
              <a:rPr lang="ru-RU" sz="24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как центральная звезда с градиентной заливкой и лучами. Используется несколько вложенных окружностей для создания эффекта короны и пульсации. Также добавляются 8 лучей для большей эффектности.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01C2F4A-ABC8-39B2-B7BB-36C02B7A454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02310" y="1174574"/>
            <a:ext cx="6751489" cy="4590726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Зачем это нужно: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Солнце — главный объект системы, оно должно выделяться. Эффект короны и лучи создают впечатление яркой звезды, а не просто жёлтого круга.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D27E5DB-AFB6-9088-87C9-1F671C0B03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B5CEABB6-07DC-46E8-9B57-56EC44A396E5}" type="slidenum">
              <a:rPr lang="ru-RU" smtClean="0"/>
              <a:pPr rtl="0"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9699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FEAA13-E02F-EB47-E510-E3F48A95F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282721"/>
            <a:ext cx="5179615" cy="1448747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Отрисовка планет с градиентом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E26637-007F-EC9E-F644-AAFBA0900F3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8" y="2022250"/>
            <a:ext cx="9056915" cy="3747180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Планеты </a:t>
            </a:r>
            <a:r>
              <a:rPr lang="ru-RU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отрисовываются</a:t>
            </a: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с градиентной заливкой (несколько слоёв разного цвета) для создания объёма. Используются два цвета: основной и более тёмный для создания эффекта полутени.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Зачем это нужно: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Градиент делает планеты объёмными и реалистичными, вместо плоских кругов. Чередование цветов создаёт иллюзию сферической поверхности.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DDD930B-FB1B-543D-6828-8C31F30BBD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B5CEABB6-07DC-46E8-9B57-56EC44A396E5}" type="slidenum">
              <a:rPr lang="ru-RU" smtClean="0"/>
              <a:pPr rtl="0"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17447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8ECED9-3D31-C7EF-C4E5-0D218F611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932" y="584477"/>
            <a:ext cx="10354052" cy="1209765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ЗАКЛЮЧЕНИЕ</a:t>
            </a:r>
          </a:p>
        </p:txBody>
      </p:sp>
      <p:graphicFrame>
        <p:nvGraphicFramePr>
          <p:cNvPr id="5" name="Таблица 9">
            <a:extLst>
              <a:ext uri="{FF2B5EF4-FFF2-40B4-BE49-F238E27FC236}">
                <a16:creationId xmlns:a16="http://schemas.microsoft.com/office/drawing/2014/main" id="{B782709C-FC0C-E355-9C94-A8EE025BAC7B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461936250"/>
              </p:ext>
            </p:extLst>
          </p:nvPr>
        </p:nvGraphicFramePr>
        <p:xfrm>
          <a:off x="1229932" y="1679465"/>
          <a:ext cx="10573367" cy="45760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78110">
                  <a:extLst>
                    <a:ext uri="{9D8B030D-6E8A-4147-A177-3AD203B41FA5}">
                      <a16:colId xmlns:a16="http://schemas.microsoft.com/office/drawing/2014/main" val="3446012419"/>
                    </a:ext>
                  </a:extLst>
                </a:gridCol>
                <a:gridCol w="5595257">
                  <a:extLst>
                    <a:ext uri="{9D8B030D-6E8A-4147-A177-3AD203B41FA5}">
                      <a16:colId xmlns:a16="http://schemas.microsoft.com/office/drawing/2014/main" val="4052646397"/>
                    </a:ext>
                  </a:extLst>
                </a:gridCol>
              </a:tblGrid>
              <a:tr h="589649"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Проект "Симулятор Солнечной системы"</a:t>
                      </a:r>
                      <a:endParaRPr lang="ru-RU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+mn-cs"/>
                      </a:endParaRPr>
                    </a:p>
                    <a:p>
                      <a:pPr algn="l" rtl="0" fontAlgn="b"/>
                      <a:endParaRPr lang="ru-RU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+mn-cs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ru-RU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представляет собой полноценное приложение с графическим интерфейсом, реализующее:</a:t>
                      </a:r>
                    </a:p>
                    <a:p>
                      <a:pPr algn="l" rtl="0" fontAlgn="b"/>
                      <a:endParaRPr lang="ru-RU" sz="18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0773105"/>
                  </a:ext>
                </a:extLst>
              </a:tr>
              <a:tr h="671558"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algn="l" rtl="0" fontAlgn="b"/>
                      <a:endParaRPr lang="ru-RU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+mn-cs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algn="l" rtl="0" fontAlgn="b"/>
                      <a:endParaRPr lang="ru-RU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2911372"/>
                  </a:ext>
                </a:extLst>
              </a:tr>
              <a:tr h="589649"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lvl="1" algn="l" rtl="0" fontAlgn="b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Орбитальная механика</a:t>
                      </a:r>
                      <a:endParaRPr lang="ru-RU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+mn-cs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algn="l" rtl="0" fontAlgn="b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расчёт и отображение движения 8 планет</a:t>
                      </a:r>
                      <a:endParaRPr lang="ru-RU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3393929"/>
                  </a:ext>
                </a:extLst>
              </a:tr>
              <a:tr h="814534"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lvl="1" algn="l" rtl="0" fontAlgn="b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Визуализация</a:t>
                      </a:r>
                      <a:endParaRPr lang="ru-RU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+mn-cs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отрисовка небесных тел с эффектами (градиенты, кольца, мерцающие звёзды)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711469"/>
                  </a:ext>
                </a:extLst>
              </a:tr>
              <a:tr h="671558"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Интерактивный интерфейс </a:t>
                      </a:r>
                      <a:endParaRPr lang="ru-RU" sz="2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+mn-cs"/>
                      </a:endParaRPr>
                    </a:p>
                    <a:p>
                      <a:endParaRPr lang="ru-RU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управление мышью, горячие клавиши, панели информации</a:t>
                      </a:r>
                    </a:p>
                    <a:p>
                      <a:pPr algn="l" rtl="0" fontAlgn="b"/>
                      <a:endParaRPr lang="ru-RU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8944196"/>
                  </a:ext>
                </a:extLst>
              </a:tr>
              <a:tr h="671558"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ru-RU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ru-RU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Гибкая система изображений </a:t>
                      </a:r>
                      <a:endParaRPr lang="ru-RU" sz="2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+mn-cs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>
                      <a:defPPr>
                        <a:defRPr lang="ru-RU"/>
                      </a:defPPr>
                    </a:lstStyle>
                    <a:p>
                      <a:pPr algn="l" rtl="0" fontAlgn="b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подробные научные данные о каждой планете</a:t>
                      </a:r>
                      <a:endParaRPr lang="ru-RU" sz="18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1606819"/>
                  </a:ext>
                </a:extLst>
              </a:tr>
            </a:tbl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FE50FF3-CE3C-DDFB-B8EA-5BA1668A10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B5CEABB6-07DC-46E8-9B57-56EC44A396E5}" type="slidenum">
              <a:rPr lang="ru-RU" smtClean="0"/>
              <a:pPr rtl="0"/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235007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Графический объект 2">
            <a:extLst>
              <a:ext uri="{FF2B5EF4-FFF2-40B4-BE49-F238E27FC236}">
                <a16:creationId xmlns:a16="http://schemas.microsoft.com/office/drawing/2014/main" id="{77B52831-0916-294C-0ACB-9774B9805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E82E216E-9EE0-9D3F-D692-083F575A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1515" y="374090"/>
            <a:ext cx="5057104" cy="3624984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02415C2-4709-43A2-86D1-B725806BA7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9932640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ая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Arial"/>
      </a:majorFont>
      <a:minorFont>
        <a:latin typeface="Tenorite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3135374_TF22318419_Win32" id="{190C78A2-73A9-4810-90AD-E7DCF6145837}" vid="{9BDBB77D-0AF8-4EC5-880C-F23D138FD676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B045227-5724-4DBF-9712-031B1BFB2C3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22457D9-12AC-4794-A05E-F1B90FCD8D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7B39BD0-040C-43BE-B0E4-512B09E8003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Минималистичная презентация о продажах</Template>
  <TotalTime>85</TotalTime>
  <Words>756</Words>
  <Application>Microsoft Office PowerPoint</Application>
  <PresentationFormat>Широкоэкранный</PresentationFormat>
  <Paragraphs>94</Paragraphs>
  <Slides>14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Calibri</vt:lpstr>
      <vt:lpstr>quote-cjk-patch</vt:lpstr>
      <vt:lpstr>Tenorite</vt:lpstr>
      <vt:lpstr>Пользовательская</vt:lpstr>
      <vt:lpstr>"СИМУЛЯТОР СОЛНЕЧНОЙ СИСТЕМЫ"</vt:lpstr>
      <vt:lpstr>Основные цели проекта: </vt:lpstr>
      <vt:lpstr> </vt:lpstr>
      <vt:lpstr>ГОРЯЧИЕ КЛАВИШИ ПРОЕКТА:</vt:lpstr>
      <vt:lpstr>ОРБИТАЛЬНАЯ МЕХАНИКА И РАЗМЕЩЕНИЕ ТЕЛ</vt:lpstr>
      <vt:lpstr>Зачем это нужно: Без этого механизма планеты стояли бы на месте. Именно этот код создаёт реалистичное движение небесных тел, где внутренние планеты (Меркурий, Венера) движутся быстрее внешних (Юпитер, Нептун).</vt:lpstr>
      <vt:lpstr> Отрисовка орбит планет</vt:lpstr>
      <vt:lpstr>  Зачем это нужно:</vt:lpstr>
      <vt:lpstr>Масштабирование и перемещение вида</vt:lpstr>
      <vt:lpstr>Автоматическая подгонка масштаба</vt:lpstr>
      <vt:lpstr>ВИЗУАЛИЗАЦИЯ НЕБЕСНЫХ ТЕЛ</vt:lpstr>
      <vt:lpstr>Отрисовка планет с градиентом</vt:lpstr>
      <vt:lpstr>ЗАКЛЮЧЕНИЕ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"СИМУЛЯТОР СОЛНЕЧНОЙ СИСТЕМЫ"</dc:title>
  <dc:creator>студент С.В.А</dc:creator>
  <cp:lastModifiedBy>студент С.В.А</cp:lastModifiedBy>
  <cp:revision>5</cp:revision>
  <dcterms:created xsi:type="dcterms:W3CDTF">2026-03-03T06:25:52Z</dcterms:created>
  <dcterms:modified xsi:type="dcterms:W3CDTF">2026-03-04T11:05:53Z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